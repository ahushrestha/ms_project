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6" r:id="rId3"/>
    <p:sldId id="271" r:id="rId4"/>
    <p:sldId id="26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8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21A3A-3CE2-4BF6-BD13-F4C598001F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5DA4F7-0BE2-4896-A655-001AEACCB0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595567-F25E-4BBB-84A2-D79371222082}"/>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39AC3F66-0AED-431C-8A2E-E3FAF153C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B7C02-356A-42CE-8F0B-D0A0A9E490DA}"/>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3558492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AB4B6-B57A-4EFF-B1E6-DAE5ACA3C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A40091-5A6C-4DD6-866B-1AC2EEC7D8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DC5EF3-DE3E-480F-AA4F-5A9C45AE531A}"/>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137483CE-20A6-4A15-AA3D-6B2272873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21F69-FF80-4E71-A494-111A2DC25F6F}"/>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4286375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E2B2F-CBCB-4416-8F06-5CD7BABE38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7595B2-0709-409C-9E3F-3CA8CA32E7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0A9023-AB0A-4CD7-83DE-2859EADFEA18}"/>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DFF07458-4740-4FD7-81E1-1994D6E18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F4E2-12CC-425F-AAFE-F2FA65669CD6}"/>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2909616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82FF1-0EB3-446C-A605-D761FE84E9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E6760D-12AB-4380-88BA-F20B97866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C62F5-28AD-465B-8A2D-B63CADAF99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6783F9-867B-43C0-849F-22D8364D35B9}"/>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6" name="Footer Placeholder 5">
            <a:extLst>
              <a:ext uri="{FF2B5EF4-FFF2-40B4-BE49-F238E27FC236}">
                <a16:creationId xmlns:a16="http://schemas.microsoft.com/office/drawing/2014/main" id="{7ECB1F6B-79E3-4E4F-ACA3-03C46E19E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22B95B-1F93-42FC-B779-FA3C9E34ACCC}"/>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3004135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AAC0-5786-4C58-A407-CE5C24DABB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6E1F14-EC28-4E2B-AD04-B3A009797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600D25-3949-4D3C-B87E-D3B0FE2643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C8C9AE-FFB0-4134-934C-2FFD33E759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C65617-5110-40B7-BE71-DB48E1FBA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5EBE0D-0C30-412F-B465-35CE839C8C5B}"/>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8" name="Footer Placeholder 7">
            <a:extLst>
              <a:ext uri="{FF2B5EF4-FFF2-40B4-BE49-F238E27FC236}">
                <a16:creationId xmlns:a16="http://schemas.microsoft.com/office/drawing/2014/main" id="{E087867C-3E2F-4BE3-ADDD-834082D40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D2C5FF-3795-4A56-9D31-F0AD908ACBBF}"/>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289593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D40EA-E05A-44A6-A383-145DFA26A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F50C0C-E404-4FF2-9C75-84C0477D3E9B}"/>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4" name="Footer Placeholder 3">
            <a:extLst>
              <a:ext uri="{FF2B5EF4-FFF2-40B4-BE49-F238E27FC236}">
                <a16:creationId xmlns:a16="http://schemas.microsoft.com/office/drawing/2014/main" id="{77CA4118-B82B-436F-941F-3CCEB3C66A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00FBD8-ED56-4723-BE21-196CC7026FF8}"/>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427330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124DB1-A799-47AB-BFC5-C41F4D603035}"/>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3" name="Footer Placeholder 2">
            <a:extLst>
              <a:ext uri="{FF2B5EF4-FFF2-40B4-BE49-F238E27FC236}">
                <a16:creationId xmlns:a16="http://schemas.microsoft.com/office/drawing/2014/main" id="{F64B5072-07AD-4555-85DC-D5190800BF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C2A21E-38A8-4350-82A4-D36EBAF6A913}"/>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1595304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FC3D-18F8-4727-8C15-B49C6DDC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44096F-53FA-4BEE-803E-03538D2AB9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F60BAD-9828-4DBD-97D1-930D000940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48E030-DFCC-499C-89A5-6B28D2270645}"/>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6" name="Footer Placeholder 5">
            <a:extLst>
              <a:ext uri="{FF2B5EF4-FFF2-40B4-BE49-F238E27FC236}">
                <a16:creationId xmlns:a16="http://schemas.microsoft.com/office/drawing/2014/main" id="{C43BD4A9-7A11-4DEA-8F97-09FA39CB11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92B693-7CC8-414F-B46C-65AE0C2A7ABF}"/>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1227479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129D-AA56-4735-A592-1ABA66F87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2DD889-33BE-48AF-A51C-930109580E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98FDA9-912D-4B69-AEFF-7C5BACEBA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B88E1-DEA6-44F3-B82A-999B287EC7C5}"/>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6" name="Footer Placeholder 5">
            <a:extLst>
              <a:ext uri="{FF2B5EF4-FFF2-40B4-BE49-F238E27FC236}">
                <a16:creationId xmlns:a16="http://schemas.microsoft.com/office/drawing/2014/main" id="{F6A35F78-F3FD-4AA6-AA0F-46564579A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8CF86-4C63-4BD7-8314-A9E7B667EF85}"/>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199119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B5B4-4BDB-4D6A-857F-33FCD8D5DE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2706DF-86AA-4F97-9C91-0E2B806F98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253EB-FD09-4A9A-8EE7-EFD9D4413150}"/>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1C35934E-6DF1-4708-8AC9-D9C5B4720F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683429-C81B-4024-9B0C-60BBBEF3122D}"/>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3530248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39D73F-7759-439E-BD9A-EA99EEB183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40B194-AF00-465E-B47C-D8D7B3EFAB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4250F-86DD-4777-A817-740E8327CEA8}"/>
              </a:ext>
            </a:extLst>
          </p:cNvPr>
          <p:cNvSpPr>
            <a:spLocks noGrp="1"/>
          </p:cNvSpPr>
          <p:nvPr>
            <p:ph type="dt" sz="half" idx="10"/>
          </p:nvPr>
        </p:nvSpPr>
        <p:spPr/>
        <p:txBody>
          <a:body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907BD4CA-A74F-4CCC-AB2B-A440EAA53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49AF8A-FACB-4978-B692-6BB1FD12D093}"/>
              </a:ext>
            </a:extLst>
          </p:cNvPr>
          <p:cNvSpPr>
            <a:spLocks noGrp="1"/>
          </p:cNvSpPr>
          <p:nvPr>
            <p:ph type="sldNum" sz="quarter" idx="12"/>
          </p:nvPr>
        </p:nvSpPr>
        <p:spPr/>
        <p:txBody>
          <a:bodyPr/>
          <a:lstStyle/>
          <a:p>
            <a:fld id="{A1EFE414-B622-40FF-AD59-774D366BF9E8}" type="slidenum">
              <a:rPr lang="en-US" smtClean="0"/>
              <a:t>‹#›</a:t>
            </a:fld>
            <a:endParaRPr lang="en-US"/>
          </a:p>
        </p:txBody>
      </p:sp>
    </p:spTree>
    <p:extLst>
      <p:ext uri="{BB962C8B-B14F-4D97-AF65-F5344CB8AC3E}">
        <p14:creationId xmlns:p14="http://schemas.microsoft.com/office/powerpoint/2010/main" val="235762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ECBF95-4912-4E4A-BE38-2850F0E740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69EF1B-73BF-443B-8D36-06CC740E5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A9964-9062-42FF-9FD0-EFC2C6428D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BA7825-15F0-4115-81F3-F440675DB718}" type="datetimeFigureOut">
              <a:rPr lang="en-US" smtClean="0"/>
              <a:t>7/13/2021</a:t>
            </a:fld>
            <a:endParaRPr lang="en-US"/>
          </a:p>
        </p:txBody>
      </p:sp>
      <p:sp>
        <p:nvSpPr>
          <p:cNvPr id="5" name="Footer Placeholder 4">
            <a:extLst>
              <a:ext uri="{FF2B5EF4-FFF2-40B4-BE49-F238E27FC236}">
                <a16:creationId xmlns:a16="http://schemas.microsoft.com/office/drawing/2014/main" id="{78DAF8ED-7981-4786-9E14-B2ED3D295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BBDEA-6199-4665-8A19-91DEED4B4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EFE414-B622-40FF-AD59-774D366BF9E8}" type="slidenum">
              <a:rPr lang="en-US" smtClean="0"/>
              <a:t>‹#›</a:t>
            </a:fld>
            <a:endParaRPr lang="en-US"/>
          </a:p>
        </p:txBody>
      </p:sp>
    </p:spTree>
    <p:extLst>
      <p:ext uri="{BB962C8B-B14F-4D97-AF65-F5344CB8AC3E}">
        <p14:creationId xmlns:p14="http://schemas.microsoft.com/office/powerpoint/2010/main" val="375273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09BC-9621-4EE9-AFC1-63F9869D10E6}"/>
              </a:ext>
            </a:extLst>
          </p:cNvPr>
          <p:cNvSpPr>
            <a:spLocks noGrp="1"/>
          </p:cNvSpPr>
          <p:nvPr>
            <p:ph type="ctrTitle"/>
          </p:nvPr>
        </p:nvSpPr>
        <p:spPr>
          <a:xfrm>
            <a:off x="1524000" y="1122362"/>
            <a:ext cx="9144000" cy="2687637"/>
          </a:xfrm>
        </p:spPr>
        <p:txBody>
          <a:bodyPr>
            <a:normAutofit/>
          </a:bodyPr>
          <a:lstStyle/>
          <a:p>
            <a:r>
              <a:rPr lang="en-US" b="1" dirty="0"/>
              <a:t>MS Project</a:t>
            </a:r>
            <a:br>
              <a:rPr lang="en-US" b="1" dirty="0"/>
            </a:br>
            <a:r>
              <a:rPr lang="en-US" sz="4000" b="1" dirty="0"/>
              <a:t>Weekly Report</a:t>
            </a:r>
            <a:endParaRPr lang="en-US" b="1" dirty="0"/>
          </a:p>
        </p:txBody>
      </p:sp>
      <p:sp>
        <p:nvSpPr>
          <p:cNvPr id="3" name="Subtitle 2">
            <a:extLst>
              <a:ext uri="{FF2B5EF4-FFF2-40B4-BE49-F238E27FC236}">
                <a16:creationId xmlns:a16="http://schemas.microsoft.com/office/drawing/2014/main" id="{B78A477B-3CB2-4A2A-889C-25E5F099ACA0}"/>
              </a:ext>
            </a:extLst>
          </p:cNvPr>
          <p:cNvSpPr>
            <a:spLocks noGrp="1"/>
          </p:cNvSpPr>
          <p:nvPr>
            <p:ph type="subTitle" idx="1"/>
          </p:nvPr>
        </p:nvSpPr>
        <p:spPr>
          <a:xfrm>
            <a:off x="1524000" y="3950381"/>
            <a:ext cx="9144000" cy="697819"/>
          </a:xfrm>
        </p:spPr>
        <p:txBody>
          <a:bodyPr>
            <a:normAutofit fontScale="85000" lnSpcReduction="20000"/>
          </a:bodyPr>
          <a:lstStyle/>
          <a:p>
            <a:r>
              <a:rPr lang="en-US" b="1" dirty="0"/>
              <a:t>Ahuti Shrestha</a:t>
            </a:r>
          </a:p>
          <a:p>
            <a:r>
              <a:rPr lang="en-US" b="1" dirty="0"/>
              <a:t>July 13, 2021</a:t>
            </a:r>
          </a:p>
        </p:txBody>
      </p:sp>
    </p:spTree>
    <p:extLst>
      <p:ext uri="{BB962C8B-B14F-4D97-AF65-F5344CB8AC3E}">
        <p14:creationId xmlns:p14="http://schemas.microsoft.com/office/powerpoint/2010/main" val="1690602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C4FA5-4A4A-43A9-ADEE-426C104B1073}"/>
              </a:ext>
            </a:extLst>
          </p:cNvPr>
          <p:cNvSpPr>
            <a:spLocks noGrp="1"/>
          </p:cNvSpPr>
          <p:nvPr>
            <p:ph idx="1"/>
          </p:nvPr>
        </p:nvSpPr>
        <p:spPr>
          <a:xfrm>
            <a:off x="729343" y="391886"/>
            <a:ext cx="10515600" cy="6368143"/>
          </a:xfrm>
        </p:spPr>
        <p:txBody>
          <a:bodyPr>
            <a:normAutofit/>
          </a:bodyPr>
          <a:lstStyle/>
          <a:p>
            <a:pPr marL="0" indent="0">
              <a:buNone/>
            </a:pPr>
            <a:r>
              <a:rPr lang="en-US" sz="3800" dirty="0"/>
              <a:t>Preprocessing text data</a:t>
            </a:r>
          </a:p>
          <a:p>
            <a:r>
              <a:rPr lang="en-US" dirty="0"/>
              <a:t>I have completed the following steps:</a:t>
            </a:r>
          </a:p>
          <a:p>
            <a:pPr lvl="1"/>
            <a:r>
              <a:rPr lang="en-US" dirty="0"/>
              <a:t>Removal of html tags and stop words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p:txBody>
      </p:sp>
      <p:graphicFrame>
        <p:nvGraphicFramePr>
          <p:cNvPr id="9" name="Content Placeholder 7">
            <a:extLst>
              <a:ext uri="{FF2B5EF4-FFF2-40B4-BE49-F238E27FC236}">
                <a16:creationId xmlns:a16="http://schemas.microsoft.com/office/drawing/2014/main" id="{D67AAE7C-5B62-4842-9406-34106B0BF8C0}"/>
              </a:ext>
            </a:extLst>
          </p:cNvPr>
          <p:cNvGraphicFramePr>
            <a:graphicFrameLocks/>
          </p:cNvGraphicFramePr>
          <p:nvPr>
            <p:extLst>
              <p:ext uri="{D42A27DB-BD31-4B8C-83A1-F6EECF244321}">
                <p14:modId xmlns:p14="http://schemas.microsoft.com/office/powerpoint/2010/main" val="2833240328"/>
              </p:ext>
            </p:extLst>
          </p:nvPr>
        </p:nvGraphicFramePr>
        <p:xfrm>
          <a:off x="408214" y="2326367"/>
          <a:ext cx="11375571" cy="3427332"/>
        </p:xfrm>
        <a:graphic>
          <a:graphicData uri="http://schemas.openxmlformats.org/drawingml/2006/table">
            <a:tbl>
              <a:tblPr/>
              <a:tblGrid>
                <a:gridCol w="921421">
                  <a:extLst>
                    <a:ext uri="{9D8B030D-6E8A-4147-A177-3AD203B41FA5}">
                      <a16:colId xmlns:a16="http://schemas.microsoft.com/office/drawing/2014/main" val="1048129813"/>
                    </a:ext>
                  </a:extLst>
                </a:gridCol>
                <a:gridCol w="10454150">
                  <a:extLst>
                    <a:ext uri="{9D8B030D-6E8A-4147-A177-3AD203B41FA5}">
                      <a16:colId xmlns:a16="http://schemas.microsoft.com/office/drawing/2014/main" val="4288375679"/>
                    </a:ext>
                  </a:extLst>
                </a:gridCol>
              </a:tblGrid>
              <a:tr h="397112">
                <a:tc>
                  <a:txBody>
                    <a:bodyPr/>
                    <a:lstStyle/>
                    <a:p>
                      <a:pPr algn="l" fontAlgn="b"/>
                      <a:r>
                        <a:rPr lang="en-US" sz="1600" b="0" i="0" u="none" strike="noStrike" dirty="0">
                          <a:solidFill>
                            <a:srgbClr val="000000"/>
                          </a:solidFill>
                          <a:effectLst/>
                          <a:latin typeface="Calibri" panose="020F0502020204030204" pitchFamily="34" charset="0"/>
                        </a:rPr>
                        <a:t>ParentId</a:t>
                      </a:r>
                    </a:p>
                  </a:txBody>
                  <a:tcPr marL="840" marR="840" marT="84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Without_stopwords</a:t>
                      </a:r>
                    </a:p>
                  </a:txBody>
                  <a:tcPr marL="840" marR="840" marT="84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2850695"/>
                  </a:ext>
                </a:extLst>
              </a:tr>
              <a:tr h="792668">
                <a:tc>
                  <a:txBody>
                    <a:bodyPr/>
                    <a:lstStyle/>
                    <a:p>
                      <a:pPr algn="r" fontAlgn="b"/>
                      <a:r>
                        <a:rPr lang="en-US" sz="1100" b="0" i="0" u="none" strike="noStrike" dirty="0">
                          <a:solidFill>
                            <a:srgbClr val="000000"/>
                          </a:solidFill>
                          <a:effectLst/>
                          <a:latin typeface="Calibri" panose="020F0502020204030204" pitchFamily="34" charset="0"/>
                        </a:rPr>
                        <a:t>55370797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There many difference arrays collection java are: A collection growable nature based requirement. We increase decrease size. Whereas Arrays fixed size create array increase decrease based requirement. With respect memory: collection recommended whereas respect performance: array recommended. Arrays hold homogeneous elements collections hold homogeneous heterogeneous elements. Arrays ready-made methods collections ready-made data structures methods. Arrays hold primitives wrapper objects collections hold objects. Below set collections java: import </a:t>
                      </a:r>
                      <a:r>
                        <a:rPr lang="en-US" sz="1100" b="0" i="0" u="none" strike="noStrike" dirty="0" err="1">
                          <a:solidFill>
                            <a:srgbClr val="000000"/>
                          </a:solidFill>
                          <a:effectLst/>
                          <a:latin typeface="Calibri" panose="020F0502020204030204" pitchFamily="34" charset="0"/>
                        </a:rPr>
                        <a:t>java.util.Map</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java.util.Set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java.util.SortedSet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java.util.TreeSet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java.util.ArrayList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java.util.Collection</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java.util.HashMap</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java.util.HashSet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java.util.Iterator</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java.util.LinkedHashSet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java.util.LinkedList</a:t>
                      </a:r>
                      <a:r>
                        <a:rPr lang="en-US" sz="1100" b="0" i="0" u="none" strike="noStrike" dirty="0">
                          <a:solidFill>
                            <a:srgbClr val="000000"/>
                          </a:solidFill>
                          <a:effectLst/>
                          <a:latin typeface="Calibri" panose="020F0502020204030204" pitchFamily="34" charset="0"/>
                        </a:rPr>
                        <a:t>; import </a:t>
                      </a:r>
                      <a:r>
                        <a:rPr lang="en-US" sz="1100" b="0" i="0" u="none" strike="noStrike" dirty="0" err="1">
                          <a:solidFill>
                            <a:srgbClr val="000000"/>
                          </a:solidFill>
                          <a:effectLst/>
                          <a:latin typeface="Calibri" panose="020F0502020204030204" pitchFamily="34" charset="0"/>
                        </a:rPr>
                        <a:t>java.util.List</a:t>
                      </a:r>
                      <a:r>
                        <a:rPr lang="en-US" sz="1100" b="0" i="0" u="none" strike="noStrike" dirty="0">
                          <a:solidFill>
                            <a:srgbClr val="000000"/>
                          </a:solidFill>
                          <a:effectLst/>
                          <a:latin typeface="Calibri" panose="020F0502020204030204" pitchFamily="34" charset="0"/>
                        </a:rPr>
                        <a:t>; public class </a:t>
                      </a:r>
                      <a:r>
                        <a:rPr lang="en-US" sz="1100" b="0" i="0" u="none" strike="noStrike" dirty="0" err="1">
                          <a:solidFill>
                            <a:srgbClr val="000000"/>
                          </a:solidFill>
                          <a:effectLst/>
                          <a:latin typeface="Calibri" panose="020F0502020204030204" pitchFamily="34" charset="0"/>
                        </a:rPr>
                        <a:t>CollectionExamples</a:t>
                      </a:r>
                      <a:r>
                        <a:rPr lang="en-US" sz="1100" b="0" i="0" u="none" strike="noStrike" dirty="0">
                          <a:solidFill>
                            <a:srgbClr val="000000"/>
                          </a:solidFill>
                          <a:effectLst/>
                          <a:latin typeface="Calibri" panose="020F0502020204030204" pitchFamily="34" charset="0"/>
                        </a:rPr>
                        <a:t> { public static void main(String[] </a:t>
                      </a:r>
                      <a:r>
                        <a:rPr lang="en-US" sz="1100" b="0" i="0" u="none" strike="noStrike" dirty="0" err="1">
                          <a:solidFill>
                            <a:srgbClr val="000000"/>
                          </a:solidFill>
                          <a:effectLst/>
                          <a:latin typeface="Calibri" panose="020F0502020204030204" pitchFamily="34" charset="0"/>
                        </a:rPr>
                        <a:t>args</a:t>
                      </a:r>
                      <a:r>
                        <a:rPr lang="en-US" sz="1100" b="0" i="0" u="none" strike="noStrike" dirty="0">
                          <a:solidFill>
                            <a:srgbClr val="000000"/>
                          </a:solidFill>
                          <a:effectLst/>
                          <a:latin typeface="Calibri" panose="020F0502020204030204" pitchFamily="34" charset="0"/>
                        </a:rPr>
                        <a:t>) { List LinkedList = new LinkedList(); </a:t>
                      </a:r>
                      <a:r>
                        <a:rPr lang="en-US" sz="1100" b="0" i="0" u="none" strike="noStrike" dirty="0" err="1">
                          <a:solidFill>
                            <a:srgbClr val="000000"/>
                          </a:solidFill>
                          <a:effectLst/>
                          <a:latin typeface="Calibri" panose="020F0502020204030204" pitchFamily="34" charset="0"/>
                        </a:rPr>
                        <a:t>LinkedList.add</a:t>
                      </a:r>
                      <a:r>
                        <a:rPr lang="en-US" sz="1100" b="0" i="0" u="none" strike="noStrike" dirty="0">
                          <a:solidFill>
                            <a:srgbClr val="000000"/>
                          </a:solidFill>
                          <a:effectLst/>
                          <a:latin typeface="Calibri" panose="020F0502020204030204" pitchFamily="34" charset="0"/>
                        </a:rPr>
                        <a:t>("Linked List Position 1"); </a:t>
                      </a:r>
                      <a:r>
                        <a:rPr lang="en-US" sz="1100" b="0" i="0" u="none" strike="noStrike" dirty="0" err="1">
                          <a:solidFill>
                            <a:srgbClr val="000000"/>
                          </a:solidFill>
                          <a:effectLst/>
                          <a:latin typeface="Calibri" panose="020F0502020204030204" pitchFamily="34" charset="0"/>
                        </a:rPr>
                        <a:t>LinkedList.add</a:t>
                      </a:r>
                      <a:r>
                        <a:rPr lang="en-US" sz="1100" b="0" i="0" u="none" strike="noStrike" dirty="0">
                          <a:solidFill>
                            <a:srgbClr val="000000"/>
                          </a:solidFill>
                          <a:effectLst/>
                          <a:latin typeface="Calibri" panose="020F0502020204030204" pitchFamily="34" charset="0"/>
                        </a:rPr>
                        <a:t>("Linked List Position 2"); </a:t>
                      </a:r>
                      <a:r>
                        <a:rPr lang="en-US" sz="1100" b="0" i="0" u="none" strike="noStrike" dirty="0" err="1">
                          <a:solidFill>
                            <a:srgbClr val="000000"/>
                          </a:solidFill>
                          <a:effectLst/>
                          <a:latin typeface="Calibri" panose="020F0502020204030204" pitchFamily="34" charset="0"/>
                        </a:rPr>
                        <a:t>LinkedList.add</a:t>
                      </a:r>
                      <a:r>
                        <a:rPr lang="en-US" sz="1100" b="0" i="0" u="none" strike="noStrike" dirty="0">
                          <a:solidFill>
                            <a:srgbClr val="000000"/>
                          </a:solidFill>
                          <a:effectLst/>
                          <a:latin typeface="Calibri" panose="020F0502020204030204" pitchFamily="34" charset="0"/>
                        </a:rPr>
                        <a:t>("Linked List Position 3"); </a:t>
                      </a:r>
                      <a:r>
                        <a:rPr lang="en-US" sz="1100" b="0" i="0" u="none" strike="noStrike" dirty="0" err="1">
                          <a:solidFill>
                            <a:srgbClr val="000000"/>
                          </a:solidFill>
                          <a:effectLst/>
                          <a:latin typeface="Calibri" panose="020F0502020204030204" pitchFamily="34" charset="0"/>
                        </a:rPr>
                        <a:t>LinkedList.add</a:t>
                      </a:r>
                      <a:r>
                        <a:rPr lang="en-US" sz="1100" b="0" i="0" u="none" strike="noStrike" dirty="0">
                          <a:solidFill>
                            <a:srgbClr val="000000"/>
                          </a:solidFill>
                          <a:effectLst/>
                          <a:latin typeface="Calibri" panose="020F0502020204030204" pitchFamily="34" charset="0"/>
                        </a:rPr>
                        <a:t>("Linked List Position 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(LinkedList); List </a:t>
                      </a:r>
                      <a:r>
                        <a:rPr lang="en-US" sz="1100" b="0" i="0" u="none" strike="noStrike" dirty="0" err="1">
                          <a:solidFill>
                            <a:srgbClr val="000000"/>
                          </a:solidFill>
                          <a:effectLst/>
                          <a:latin typeface="Calibri" panose="020F0502020204030204" pitchFamily="34" charset="0"/>
                        </a:rPr>
                        <a:t>arrayList</a:t>
                      </a:r>
                      <a:r>
                        <a:rPr lang="en-US" sz="1100" b="0" i="0" u="none" strike="noStrike" dirty="0">
                          <a:solidFill>
                            <a:srgbClr val="000000"/>
                          </a:solidFill>
                          <a:effectLst/>
                          <a:latin typeface="Calibri" panose="020F0502020204030204" pitchFamily="34" charset="0"/>
                        </a:rPr>
                        <a:t> = new </a:t>
                      </a:r>
                      <a:r>
                        <a:rPr lang="en-US" sz="1100" b="0" i="0" u="none" strike="noStrike" dirty="0" err="1">
                          <a:solidFill>
                            <a:srgbClr val="000000"/>
                          </a:solidFill>
                          <a:effectLst/>
                          <a:latin typeface="Calibri" panose="020F0502020204030204" pitchFamily="34" charset="0"/>
                        </a:rPr>
                        <a:t>ArrayList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arrayList.add</a:t>
                      </a:r>
                      <a:r>
                        <a:rPr lang="en-US" sz="1100" b="0" i="0" u="none" strike="noStrike" dirty="0">
                          <a:solidFill>
                            <a:srgbClr val="000000"/>
                          </a:solidFill>
                          <a:effectLst/>
                          <a:latin typeface="Calibri" panose="020F0502020204030204" pitchFamily="34" charset="0"/>
                        </a:rPr>
                        <a:t>("Array List Position 1"); </a:t>
                      </a:r>
                      <a:r>
                        <a:rPr lang="en-US" sz="1100" b="0" i="0" u="none" strike="noStrike" dirty="0" err="1">
                          <a:solidFill>
                            <a:srgbClr val="000000"/>
                          </a:solidFill>
                          <a:effectLst/>
                          <a:latin typeface="Calibri" panose="020F0502020204030204" pitchFamily="34" charset="0"/>
                        </a:rPr>
                        <a:t>arrayList.add</a:t>
                      </a:r>
                      <a:r>
                        <a:rPr lang="en-US" sz="1100" b="0" i="0" u="none" strike="noStrike" dirty="0">
                          <a:solidFill>
                            <a:srgbClr val="000000"/>
                          </a:solidFill>
                          <a:effectLst/>
                          <a:latin typeface="Calibri" panose="020F0502020204030204" pitchFamily="34" charset="0"/>
                        </a:rPr>
                        <a:t>("Array List Position 2"); </a:t>
                      </a:r>
                      <a:r>
                        <a:rPr lang="en-US" sz="1100" b="0" i="0" u="none" strike="noStrike" dirty="0" err="1">
                          <a:solidFill>
                            <a:srgbClr val="000000"/>
                          </a:solidFill>
                          <a:effectLst/>
                          <a:latin typeface="Calibri" panose="020F0502020204030204" pitchFamily="34" charset="0"/>
                        </a:rPr>
                        <a:t>arrayList.add</a:t>
                      </a:r>
                      <a:r>
                        <a:rPr lang="en-US" sz="1100" b="0" i="0" u="none" strike="noStrike" dirty="0">
                          <a:solidFill>
                            <a:srgbClr val="000000"/>
                          </a:solidFill>
                          <a:effectLst/>
                          <a:latin typeface="Calibri" panose="020F0502020204030204" pitchFamily="34" charset="0"/>
                        </a:rPr>
                        <a:t>("Array List Position 3"); </a:t>
                      </a:r>
                      <a:r>
                        <a:rPr lang="en-US" sz="1100" b="0" i="0" u="none" strike="noStrike" dirty="0" err="1">
                          <a:solidFill>
                            <a:srgbClr val="000000"/>
                          </a:solidFill>
                          <a:effectLst/>
                          <a:latin typeface="Calibri" panose="020F0502020204030204" pitchFamily="34" charset="0"/>
                        </a:rPr>
                        <a:t>arrayList.add</a:t>
                      </a:r>
                      <a:r>
                        <a:rPr lang="en-US" sz="1100" b="0" i="0" u="none" strike="noStrike" dirty="0">
                          <a:solidFill>
                            <a:srgbClr val="000000"/>
                          </a:solidFill>
                          <a:effectLst/>
                          <a:latin typeface="Calibri" panose="020F0502020204030204" pitchFamily="34" charset="0"/>
                        </a:rPr>
                        <a:t>("Array List Position 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arrayList</a:t>
                      </a:r>
                      <a:r>
                        <a:rPr lang="en-US" sz="1100" b="0" i="0" u="none" strike="noStrike" dirty="0">
                          <a:solidFill>
                            <a:srgbClr val="000000"/>
                          </a:solidFill>
                          <a:effectLst/>
                          <a:latin typeface="Calibri" panose="020F0502020204030204" pitchFamily="34" charset="0"/>
                        </a:rPr>
                        <a:t>); Set </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 new HashSet(); </a:t>
                      </a:r>
                      <a:r>
                        <a:rPr lang="en-US" sz="1100" b="0" i="0" u="none" strike="noStrike" dirty="0" err="1">
                          <a:solidFill>
                            <a:srgbClr val="000000"/>
                          </a:solidFill>
                          <a:effectLst/>
                          <a:latin typeface="Calibri" panose="020F0502020204030204" pitchFamily="34" charset="0"/>
                        </a:rPr>
                        <a:t>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Position 1"); </a:t>
                      </a:r>
                      <a:r>
                        <a:rPr lang="en-US" sz="1100" b="0" i="0" u="none" strike="noStrike" dirty="0" err="1">
                          <a:solidFill>
                            <a:srgbClr val="000000"/>
                          </a:solidFill>
                          <a:effectLst/>
                          <a:latin typeface="Calibri" panose="020F0502020204030204" pitchFamily="34" charset="0"/>
                        </a:rPr>
                        <a:t>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Position 2"); </a:t>
                      </a:r>
                      <a:r>
                        <a:rPr lang="en-US" sz="1100" b="0" i="0" u="none" strike="noStrike" dirty="0" err="1">
                          <a:solidFill>
                            <a:srgbClr val="000000"/>
                          </a:solidFill>
                          <a:effectLst/>
                          <a:latin typeface="Calibri" panose="020F0502020204030204" pitchFamily="34" charset="0"/>
                        </a:rPr>
                        <a:t>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Position 3"); </a:t>
                      </a:r>
                      <a:r>
                        <a:rPr lang="en-US" sz="1100" b="0" i="0" u="none" strike="noStrike" dirty="0" err="1">
                          <a:solidFill>
                            <a:srgbClr val="000000"/>
                          </a:solidFill>
                          <a:effectLst/>
                          <a:latin typeface="Calibri" panose="020F0502020204030204" pitchFamily="34" charset="0"/>
                        </a:rPr>
                        <a:t>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Position 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SortedSet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 new </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treeSet.add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Position 1"); </a:t>
                      </a:r>
                      <a:r>
                        <a:rPr lang="en-US" sz="1100" b="0" i="0" u="none" strike="noStrike" dirty="0" err="1">
                          <a:solidFill>
                            <a:srgbClr val="000000"/>
                          </a:solidFill>
                          <a:effectLst/>
                          <a:latin typeface="Calibri" panose="020F0502020204030204" pitchFamily="34" charset="0"/>
                        </a:rPr>
                        <a:t>treeSet.add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Position 2"); </a:t>
                      </a:r>
                      <a:r>
                        <a:rPr lang="en-US" sz="1100" b="0" i="0" u="none" strike="noStrike" dirty="0" err="1">
                          <a:solidFill>
                            <a:srgbClr val="000000"/>
                          </a:solidFill>
                          <a:effectLst/>
                          <a:latin typeface="Calibri" panose="020F0502020204030204" pitchFamily="34" charset="0"/>
                        </a:rPr>
                        <a:t>treeSet.add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Position 3"); </a:t>
                      </a:r>
                      <a:r>
                        <a:rPr lang="en-US" sz="1100" b="0" i="0" u="none" strike="noStrike" dirty="0" err="1">
                          <a:solidFill>
                            <a:srgbClr val="000000"/>
                          </a:solidFill>
                          <a:effectLst/>
                          <a:latin typeface="Calibri" panose="020F0502020204030204" pitchFamily="34" charset="0"/>
                        </a:rPr>
                        <a:t>treeSet.add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Position 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treeSet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 new </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linkedHashSet.add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Position 1"); </a:t>
                      </a:r>
                      <a:r>
                        <a:rPr lang="en-US" sz="1100" b="0" i="0" u="none" strike="noStrike" dirty="0" err="1">
                          <a:solidFill>
                            <a:srgbClr val="000000"/>
                          </a:solidFill>
                          <a:effectLst/>
                          <a:latin typeface="Calibri" panose="020F0502020204030204" pitchFamily="34" charset="0"/>
                        </a:rPr>
                        <a:t>linkedHashSet.add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Position 2"); </a:t>
                      </a:r>
                      <a:r>
                        <a:rPr lang="en-US" sz="1100" b="0" i="0" u="none" strike="noStrike" dirty="0" err="1">
                          <a:solidFill>
                            <a:srgbClr val="000000"/>
                          </a:solidFill>
                          <a:effectLst/>
                          <a:latin typeface="Calibri" panose="020F0502020204030204" pitchFamily="34" charset="0"/>
                        </a:rPr>
                        <a:t>linkedHashSet.add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Position 3"); </a:t>
                      </a:r>
                      <a:r>
                        <a:rPr lang="en-US" sz="1100" b="0" i="0" u="none" strike="noStrike" dirty="0" err="1">
                          <a:solidFill>
                            <a:srgbClr val="000000"/>
                          </a:solidFill>
                          <a:effectLst/>
                          <a:latin typeface="Calibri" panose="020F0502020204030204" pitchFamily="34" charset="0"/>
                        </a:rPr>
                        <a:t>linkedHashSet.add</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Position 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linkedHashSet</a:t>
                      </a:r>
                      <a:r>
                        <a:rPr lang="en-US" sz="1100" b="0" i="0" u="none" strike="noStrike" dirty="0">
                          <a:solidFill>
                            <a:srgbClr val="000000"/>
                          </a:solidFill>
                          <a:effectLst/>
                          <a:latin typeface="Calibri" panose="020F0502020204030204" pitchFamily="34" charset="0"/>
                        </a:rPr>
                        <a:t>); Map </a:t>
                      </a:r>
                      <a:r>
                        <a:rPr lang="en-US" sz="1100" b="0" i="0" u="none" strike="noStrike" dirty="0" err="1">
                          <a:solidFill>
                            <a:srgbClr val="000000"/>
                          </a:solidFill>
                          <a:effectLst/>
                          <a:latin typeface="Calibri" panose="020F0502020204030204" pitchFamily="34" charset="0"/>
                        </a:rPr>
                        <a:t>hashMap</a:t>
                      </a:r>
                      <a:r>
                        <a:rPr lang="en-US" sz="1100" b="0" i="0" u="none" strike="noStrike" dirty="0">
                          <a:solidFill>
                            <a:srgbClr val="000000"/>
                          </a:solidFill>
                          <a:effectLst/>
                          <a:latin typeface="Calibri" panose="020F0502020204030204" pitchFamily="34" charset="0"/>
                        </a:rPr>
                        <a:t> = new HashMap(); </a:t>
                      </a:r>
                      <a:r>
                        <a:rPr lang="en-US" sz="1100" b="0" i="0" u="none" strike="noStrike" dirty="0" err="1">
                          <a:solidFill>
                            <a:srgbClr val="000000"/>
                          </a:solidFill>
                          <a:effectLst/>
                          <a:latin typeface="Calibri" panose="020F0502020204030204" pitchFamily="34" charset="0"/>
                        </a:rPr>
                        <a:t>hashMap.put</a:t>
                      </a:r>
                      <a:r>
                        <a:rPr lang="en-US" sz="1100" b="0" i="0" u="none" strike="noStrike" dirty="0">
                          <a:solidFill>
                            <a:srgbClr val="000000"/>
                          </a:solidFill>
                          <a:effectLst/>
                          <a:latin typeface="Calibri" panose="020F0502020204030204" pitchFamily="34" charset="0"/>
                        </a:rPr>
                        <a:t>("hashMapKey1", "hashMapValue1"); </a:t>
                      </a:r>
                      <a:r>
                        <a:rPr lang="en-US" sz="1100" b="0" i="0" u="none" strike="noStrike" dirty="0" err="1">
                          <a:solidFill>
                            <a:srgbClr val="000000"/>
                          </a:solidFill>
                          <a:effectLst/>
                          <a:latin typeface="Calibri" panose="020F0502020204030204" pitchFamily="34" charset="0"/>
                        </a:rPr>
                        <a:t>hashMap.put</a:t>
                      </a:r>
                      <a:r>
                        <a:rPr lang="en-US" sz="1100" b="0" i="0" u="none" strike="noStrike" dirty="0">
                          <a:solidFill>
                            <a:srgbClr val="000000"/>
                          </a:solidFill>
                          <a:effectLst/>
                          <a:latin typeface="Calibri" panose="020F0502020204030204" pitchFamily="34" charset="0"/>
                        </a:rPr>
                        <a:t>("hashMapKey2", "hashMapValue2"); </a:t>
                      </a:r>
                      <a:r>
                        <a:rPr lang="en-US" sz="1100" b="0" i="0" u="none" strike="noStrike" dirty="0" err="1">
                          <a:solidFill>
                            <a:srgbClr val="000000"/>
                          </a:solidFill>
                          <a:effectLst/>
                          <a:latin typeface="Calibri" panose="020F0502020204030204" pitchFamily="34" charset="0"/>
                        </a:rPr>
                        <a:t>hashMap.put</a:t>
                      </a:r>
                      <a:r>
                        <a:rPr lang="en-US" sz="1100" b="0" i="0" u="none" strike="noStrike" dirty="0">
                          <a:solidFill>
                            <a:srgbClr val="000000"/>
                          </a:solidFill>
                          <a:effectLst/>
                          <a:latin typeface="Calibri" panose="020F0502020204030204" pitchFamily="34" charset="0"/>
                        </a:rPr>
                        <a:t>("hashMapKey3", "hashMapValue3"); </a:t>
                      </a:r>
                      <a:r>
                        <a:rPr lang="en-US" sz="1100" b="0" i="0" u="none" strike="noStrike" dirty="0" err="1">
                          <a:solidFill>
                            <a:srgbClr val="000000"/>
                          </a:solidFill>
                          <a:effectLst/>
                          <a:latin typeface="Calibri" panose="020F0502020204030204" pitchFamily="34" charset="0"/>
                        </a:rPr>
                        <a:t>hashMap.put</a:t>
                      </a:r>
                      <a:r>
                        <a:rPr lang="en-US" sz="1100" b="0" i="0" u="none" strike="noStrike" dirty="0">
                          <a:solidFill>
                            <a:srgbClr val="000000"/>
                          </a:solidFill>
                          <a:effectLst/>
                          <a:latin typeface="Calibri" panose="020F0502020204030204" pitchFamily="34" charset="0"/>
                        </a:rPr>
                        <a:t>("hashMapKey4", "hashMapValue4");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hashMap.keySet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hashMap.values</a:t>
                      </a:r>
                      <a:r>
                        <a:rPr lang="en-US" sz="1100" b="0" i="0" u="none" strike="noStrike" dirty="0">
                          <a:solidFill>
                            <a:srgbClr val="000000"/>
                          </a:solidFill>
                          <a:effectLst/>
                          <a:latin typeface="Calibri" panose="020F0502020204030204" pitchFamily="34" charset="0"/>
                        </a:rPr>
                        <a:t>()); } static void </a:t>
                      </a:r>
                      <a:r>
                        <a:rPr lang="en-US" sz="1100" b="0" i="0" u="none" strike="noStrike" dirty="0" err="1">
                          <a:solidFill>
                            <a:srgbClr val="000000"/>
                          </a:solidFill>
                          <a:effectLst/>
                          <a:latin typeface="Calibri" panose="020F0502020204030204" pitchFamily="34" charset="0"/>
                        </a:rPr>
                        <a:t>displayAll</a:t>
                      </a:r>
                      <a:r>
                        <a:rPr lang="en-US" sz="1100" b="0" i="0" u="none" strike="noStrike" dirty="0">
                          <a:solidFill>
                            <a:srgbClr val="000000"/>
                          </a:solidFill>
                          <a:effectLst/>
                          <a:latin typeface="Calibri" panose="020F0502020204030204" pitchFamily="34" charset="0"/>
                        </a:rPr>
                        <a:t>(Collection col) { Iterator </a:t>
                      </a:r>
                      <a:r>
                        <a:rPr lang="en-US" sz="1100" b="0" i="0" u="none" strike="noStrike" dirty="0" err="1">
                          <a:solidFill>
                            <a:srgbClr val="000000"/>
                          </a:solidFill>
                          <a:effectLst/>
                          <a:latin typeface="Calibri" panose="020F0502020204030204" pitchFamily="34" charset="0"/>
                        </a:rPr>
                        <a:t>itr</a:t>
                      </a:r>
                      <a:r>
                        <a:rPr lang="en-US" sz="1100" b="0" i="0" u="none" strike="noStrike" dirty="0">
                          <a:solidFill>
                            <a:srgbClr val="000000"/>
                          </a:solidFill>
                          <a:effectLst/>
                          <a:latin typeface="Calibri" panose="020F0502020204030204" pitchFamily="34" charset="0"/>
                        </a:rPr>
                        <a:t> = </a:t>
                      </a:r>
                      <a:r>
                        <a:rPr lang="en-US" sz="1100" b="0" i="0" u="none" strike="noStrike" dirty="0" err="1">
                          <a:solidFill>
                            <a:srgbClr val="000000"/>
                          </a:solidFill>
                          <a:effectLst/>
                          <a:latin typeface="Calibri" panose="020F0502020204030204" pitchFamily="34" charset="0"/>
                        </a:rPr>
                        <a:t>col.iterator</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itr.hasNext</a:t>
                      </a:r>
                      <a:r>
                        <a:rPr lang="en-US" sz="1100" b="0" i="0" u="none" strike="noStrike" dirty="0">
                          <a:solidFill>
                            <a:srgbClr val="000000"/>
                          </a:solidFill>
                          <a:effectLst/>
                          <a:latin typeface="Calibri" panose="020F0502020204030204" pitchFamily="34" charset="0"/>
                        </a:rPr>
                        <a:t>()) { String str = (String) </a:t>
                      </a:r>
                      <a:r>
                        <a:rPr lang="en-US" sz="1100" b="0" i="0" u="none" strike="noStrike" dirty="0" err="1">
                          <a:solidFill>
                            <a:srgbClr val="000000"/>
                          </a:solidFill>
                          <a:effectLst/>
                          <a:latin typeface="Calibri" panose="020F0502020204030204" pitchFamily="34" charset="0"/>
                        </a:rPr>
                        <a:t>itr.next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System.out.println</a:t>
                      </a:r>
                      <a:r>
                        <a:rPr lang="en-US" sz="1100" b="0" i="0" u="none" strike="noStrike" dirty="0">
                          <a:solidFill>
                            <a:srgbClr val="000000"/>
                          </a:solidFill>
                          <a:effectLst/>
                          <a:latin typeface="Calibri" panose="020F0502020204030204" pitchFamily="34" charset="0"/>
                        </a:rPr>
                        <a:t>(str); } </a:t>
                      </a:r>
                      <a:r>
                        <a:rPr lang="en-US" sz="1100" b="0" i="0" u="none" strike="noStrike" dirty="0" err="1">
                          <a:solidFill>
                            <a:srgbClr val="000000"/>
                          </a:solidFill>
                          <a:effectLst/>
                          <a:latin typeface="Calibri" panose="020F0502020204030204" pitchFamily="34" charset="0"/>
                        </a:rPr>
                        <a:t>System.out.println</a:t>
                      </a:r>
                      <a:r>
                        <a:rPr lang="en-US" sz="1100" b="0" i="0" u="none" strike="noStrike" dirty="0">
                          <a:solidFill>
                            <a:srgbClr val="000000"/>
                          </a:solidFill>
                          <a:effectLst/>
                          <a:latin typeface="Calibri" panose="020F0502020204030204" pitchFamily="34" charset="0"/>
                        </a:rPr>
                        <a:t>(); }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877771"/>
                  </a:ext>
                </a:extLst>
              </a:tr>
              <a:tr h="397112">
                <a:tc>
                  <a:txBody>
                    <a:bodyPr/>
                    <a:lstStyle/>
                    <a:p>
                      <a:pPr algn="r" fontAlgn="b"/>
                      <a:r>
                        <a:rPr lang="en-US" sz="1100" b="0" i="0" u="none" strike="noStrike" dirty="0">
                          <a:solidFill>
                            <a:srgbClr val="000000"/>
                          </a:solidFill>
                          <a:effectLst/>
                          <a:latin typeface="Calibri" panose="020F0502020204030204" pitchFamily="34" charset="0"/>
                        </a:rPr>
                        <a:t>55370279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Constructor class called object class initialized. In example class B2 extends class A1. When B2 object created B2() constructor called. Ideally call super constructor B2 constructor like B2(){ super(); </a:t>
                      </a:r>
                      <a:r>
                        <a:rPr lang="en-US" sz="1100" b="0" i="0" u="none" strike="noStrike" dirty="0" err="1">
                          <a:solidFill>
                            <a:srgbClr val="000000"/>
                          </a:solidFill>
                          <a:effectLst/>
                          <a:latin typeface="Calibri" panose="020F0502020204030204" pitchFamily="34" charset="0"/>
                        </a:rPr>
                        <a:t>System.out.println</a:t>
                      </a:r>
                      <a:r>
                        <a:rPr lang="en-US" sz="1100" b="0" i="0" u="none" strike="noStrike" dirty="0">
                          <a:solidFill>
                            <a:srgbClr val="000000"/>
                          </a:solidFill>
                          <a:effectLst/>
                          <a:latin typeface="Calibri" panose="020F0502020204030204" pitchFamily="34" charset="0"/>
                        </a:rPr>
                        <a:t>("Constructor B() called"); } So, B2() invoked object creation call super class constructor. If implemented default java compiler call superclass constructor. So result Constructor A() called Constructor B() called. In case reference parent class object child class. A1 = new B2(); As object B2, constructor B2() called, internally calls A1() default. Now call a.m1() print 'Inside A's m1 method'. This reference parent type parent reference access parent class methods. If parent class m1 class m1, get compile time error.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217441"/>
                  </a:ext>
                </a:extLst>
              </a:tr>
            </a:tbl>
          </a:graphicData>
        </a:graphic>
      </p:graphicFrame>
    </p:spTree>
    <p:extLst>
      <p:ext uri="{BB962C8B-B14F-4D97-AF65-F5344CB8AC3E}">
        <p14:creationId xmlns:p14="http://schemas.microsoft.com/office/powerpoint/2010/main" val="2432454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C4FA5-4A4A-43A9-ADEE-426C104B1073}"/>
              </a:ext>
            </a:extLst>
          </p:cNvPr>
          <p:cNvSpPr>
            <a:spLocks noGrp="1"/>
          </p:cNvSpPr>
          <p:nvPr>
            <p:ph idx="1"/>
          </p:nvPr>
        </p:nvSpPr>
        <p:spPr>
          <a:xfrm>
            <a:off x="729343" y="1349829"/>
            <a:ext cx="10515600" cy="5410200"/>
          </a:xfrm>
        </p:spPr>
        <p:txBody>
          <a:bodyPr>
            <a:normAutofit/>
          </a:bodyPr>
          <a:lstStyle/>
          <a:p>
            <a:pPr marL="804863" lvl="1" indent="-347663"/>
            <a:endParaRPr lang="en-US" dirty="0"/>
          </a:p>
          <a:p>
            <a:pPr marL="804863" lvl="1" indent="-347663"/>
            <a:r>
              <a:rPr lang="en-US" dirty="0"/>
              <a:t>Tokenization</a:t>
            </a:r>
          </a:p>
          <a:p>
            <a:pPr marL="804863" lvl="1" indent="-347663"/>
            <a:endParaRPr lang="en-US" dirty="0"/>
          </a:p>
          <a:p>
            <a:pPr marL="800100" lvl="1" indent="-342900">
              <a:buFont typeface="Arial" panose="020B0604020202020204" pitchFamily="34" charset="0"/>
              <a:buChar char="•"/>
            </a:pPr>
            <a:r>
              <a:rPr lang="en-US" sz="2400" dirty="0"/>
              <a:t>Used Word2Vec for creating model (Skip Gram)</a:t>
            </a:r>
          </a:p>
          <a:p>
            <a:pPr marL="1257300" lvl="2" indent="-342900">
              <a:buFont typeface="Arial" panose="020B0604020202020204" pitchFamily="34" charset="0"/>
              <a:buChar char="•"/>
            </a:pPr>
            <a:r>
              <a:rPr lang="en-US" sz="2000" dirty="0"/>
              <a:t>size = 1000</a:t>
            </a:r>
          </a:p>
          <a:p>
            <a:pPr marL="1257300" lvl="2" indent="-342900">
              <a:buFont typeface="Arial" panose="020B0604020202020204" pitchFamily="34" charset="0"/>
              <a:buChar char="•"/>
            </a:pPr>
            <a:r>
              <a:rPr lang="en-US" sz="2000" dirty="0"/>
              <a:t>window = 3</a:t>
            </a:r>
          </a:p>
          <a:p>
            <a:pPr marL="1257300" lvl="2" indent="-342900">
              <a:buFont typeface="Arial" panose="020B0604020202020204" pitchFamily="34" charset="0"/>
              <a:buChar char="•"/>
            </a:pPr>
            <a:r>
              <a:rPr lang="en-US" sz="2000" dirty="0" err="1"/>
              <a:t>min_count</a:t>
            </a:r>
            <a:r>
              <a:rPr lang="en-US" sz="2000" dirty="0"/>
              <a:t> = 1</a:t>
            </a:r>
          </a:p>
          <a:p>
            <a:pPr marL="1257300" lvl="2" indent="-342900">
              <a:buFont typeface="Arial" panose="020B0604020202020204" pitchFamily="34" charset="0"/>
              <a:buChar char="•"/>
            </a:pPr>
            <a:r>
              <a:rPr lang="en-US" sz="2000" dirty="0"/>
              <a:t>workers = 3</a:t>
            </a:r>
          </a:p>
          <a:p>
            <a:pPr marL="1257300" lvl="2" indent="-342900">
              <a:buFont typeface="Arial" panose="020B0604020202020204" pitchFamily="34" charset="0"/>
              <a:buChar char="•"/>
            </a:pPr>
            <a:r>
              <a:rPr lang="en-US" sz="2000" dirty="0"/>
              <a:t>sg = 1</a:t>
            </a:r>
          </a:p>
          <a:p>
            <a:pPr lvl="1"/>
            <a:endParaRPr lang="en-US" dirty="0"/>
          </a:p>
          <a:p>
            <a:pPr lvl="1"/>
            <a:endParaRPr lang="en-US" dirty="0"/>
          </a:p>
        </p:txBody>
      </p:sp>
    </p:spTree>
    <p:extLst>
      <p:ext uri="{BB962C8B-B14F-4D97-AF65-F5344CB8AC3E}">
        <p14:creationId xmlns:p14="http://schemas.microsoft.com/office/powerpoint/2010/main" val="383107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00585E8-430F-4816-B1D6-2D7EFDA1F62D}"/>
              </a:ext>
            </a:extLst>
          </p:cNvPr>
          <p:cNvSpPr txBox="1"/>
          <p:nvPr/>
        </p:nvSpPr>
        <p:spPr>
          <a:xfrm>
            <a:off x="740227" y="1098920"/>
            <a:ext cx="8218715" cy="830997"/>
          </a:xfrm>
          <a:prstGeom prst="rect">
            <a:avLst/>
          </a:prstGeom>
          <a:noFill/>
        </p:spPr>
        <p:txBody>
          <a:bodyPr wrap="square">
            <a:spAutoFit/>
          </a:bodyPr>
          <a:lstStyle/>
          <a:p>
            <a:pPr marL="1257300" lvl="2"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Generation of Word2Vec Vectors</a:t>
            </a:r>
          </a:p>
        </p:txBody>
      </p:sp>
      <p:graphicFrame>
        <p:nvGraphicFramePr>
          <p:cNvPr id="11" name="Table 10">
            <a:extLst>
              <a:ext uri="{FF2B5EF4-FFF2-40B4-BE49-F238E27FC236}">
                <a16:creationId xmlns:a16="http://schemas.microsoft.com/office/drawing/2014/main" id="{26AB2798-FD81-479B-AECD-8F91BE6F9518}"/>
              </a:ext>
            </a:extLst>
          </p:cNvPr>
          <p:cNvGraphicFramePr>
            <a:graphicFrameLocks noGrp="1"/>
          </p:cNvGraphicFramePr>
          <p:nvPr>
            <p:extLst>
              <p:ext uri="{D42A27DB-BD31-4B8C-83A1-F6EECF244321}">
                <p14:modId xmlns:p14="http://schemas.microsoft.com/office/powerpoint/2010/main" val="1849815671"/>
              </p:ext>
            </p:extLst>
          </p:nvPr>
        </p:nvGraphicFramePr>
        <p:xfrm>
          <a:off x="1153884" y="2208042"/>
          <a:ext cx="10515600" cy="1220958"/>
        </p:xfrm>
        <a:graphic>
          <a:graphicData uri="http://schemas.openxmlformats.org/drawingml/2006/table">
            <a:tbl>
              <a:tblPr/>
              <a:tblGrid>
                <a:gridCol w="1168400">
                  <a:extLst>
                    <a:ext uri="{9D8B030D-6E8A-4147-A177-3AD203B41FA5}">
                      <a16:colId xmlns:a16="http://schemas.microsoft.com/office/drawing/2014/main" val="1434580427"/>
                    </a:ext>
                  </a:extLst>
                </a:gridCol>
                <a:gridCol w="1168400">
                  <a:extLst>
                    <a:ext uri="{9D8B030D-6E8A-4147-A177-3AD203B41FA5}">
                      <a16:colId xmlns:a16="http://schemas.microsoft.com/office/drawing/2014/main" val="1477594746"/>
                    </a:ext>
                  </a:extLst>
                </a:gridCol>
                <a:gridCol w="1168400">
                  <a:extLst>
                    <a:ext uri="{9D8B030D-6E8A-4147-A177-3AD203B41FA5}">
                      <a16:colId xmlns:a16="http://schemas.microsoft.com/office/drawing/2014/main" val="931505182"/>
                    </a:ext>
                  </a:extLst>
                </a:gridCol>
                <a:gridCol w="1168400">
                  <a:extLst>
                    <a:ext uri="{9D8B030D-6E8A-4147-A177-3AD203B41FA5}">
                      <a16:colId xmlns:a16="http://schemas.microsoft.com/office/drawing/2014/main" val="3487811307"/>
                    </a:ext>
                  </a:extLst>
                </a:gridCol>
                <a:gridCol w="1168400">
                  <a:extLst>
                    <a:ext uri="{9D8B030D-6E8A-4147-A177-3AD203B41FA5}">
                      <a16:colId xmlns:a16="http://schemas.microsoft.com/office/drawing/2014/main" val="4261571511"/>
                    </a:ext>
                  </a:extLst>
                </a:gridCol>
                <a:gridCol w="1168400">
                  <a:extLst>
                    <a:ext uri="{9D8B030D-6E8A-4147-A177-3AD203B41FA5}">
                      <a16:colId xmlns:a16="http://schemas.microsoft.com/office/drawing/2014/main" val="747883463"/>
                    </a:ext>
                  </a:extLst>
                </a:gridCol>
                <a:gridCol w="1168400">
                  <a:extLst>
                    <a:ext uri="{9D8B030D-6E8A-4147-A177-3AD203B41FA5}">
                      <a16:colId xmlns:a16="http://schemas.microsoft.com/office/drawing/2014/main" val="1576522550"/>
                    </a:ext>
                  </a:extLst>
                </a:gridCol>
                <a:gridCol w="1052287">
                  <a:extLst>
                    <a:ext uri="{9D8B030D-6E8A-4147-A177-3AD203B41FA5}">
                      <a16:colId xmlns:a16="http://schemas.microsoft.com/office/drawing/2014/main" val="1928013668"/>
                    </a:ext>
                  </a:extLst>
                </a:gridCol>
                <a:gridCol w="1284513">
                  <a:extLst>
                    <a:ext uri="{9D8B030D-6E8A-4147-A177-3AD203B41FA5}">
                      <a16:colId xmlns:a16="http://schemas.microsoft.com/office/drawing/2014/main" val="413098548"/>
                    </a:ext>
                  </a:extLst>
                </a:gridCol>
              </a:tblGrid>
              <a:tr h="406986">
                <a:tc>
                  <a:txBody>
                    <a:bodyPr/>
                    <a:lstStyle/>
                    <a:p>
                      <a:pPr algn="l" fontAlgn="b"/>
                      <a:r>
                        <a:rPr lang="en-US" sz="1600" b="0" i="0" u="none" strike="noStrike" dirty="0">
                          <a:solidFill>
                            <a:srgbClr val="000000"/>
                          </a:solidFill>
                          <a:effectLst/>
                          <a:latin typeface="Calibri" panose="020F0502020204030204" pitchFamily="34" charset="0"/>
                        </a:rPr>
                        <a:t>ParentId</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endParaRPr lang="en-US" sz="16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999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3711767"/>
                  </a:ext>
                </a:extLst>
              </a:tr>
              <a:tr h="406986">
                <a:tc>
                  <a:txBody>
                    <a:bodyPr/>
                    <a:lstStyle/>
                    <a:p>
                      <a:pPr algn="r" fontAlgn="b"/>
                      <a:r>
                        <a:rPr lang="en-US" sz="1600" b="0" i="0" u="none" strike="noStrike" dirty="0">
                          <a:solidFill>
                            <a:srgbClr val="000000"/>
                          </a:solidFill>
                          <a:effectLst/>
                          <a:latin typeface="Calibri" panose="020F0502020204030204" pitchFamily="34" charset="0"/>
                        </a:rPr>
                        <a:t>55370797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0.113242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0.051096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0.080315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0.024246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-0.07625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0.065829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0.106652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632820"/>
                  </a:ext>
                </a:extLst>
              </a:tr>
              <a:tr h="406986">
                <a:tc>
                  <a:txBody>
                    <a:bodyPr/>
                    <a:lstStyle/>
                    <a:p>
                      <a:pPr algn="r" fontAlgn="b"/>
                      <a:r>
                        <a:rPr lang="en-US" sz="1600" b="0" i="0" u="none" strike="noStrike" dirty="0">
                          <a:solidFill>
                            <a:srgbClr val="000000"/>
                          </a:solidFill>
                          <a:effectLst/>
                          <a:latin typeface="Calibri" panose="020F0502020204030204" pitchFamily="34" charset="0"/>
                        </a:rPr>
                        <a:t>55370279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0.104687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0.038704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0.040375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0.021149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-0.08568</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0.127759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Calibri" panose="020F0502020204030204" pitchFamily="34" charset="0"/>
                        </a:rPr>
                        <a:t>0.092039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5909952"/>
                  </a:ext>
                </a:extLst>
              </a:tr>
            </a:tbl>
          </a:graphicData>
        </a:graphic>
      </p:graphicFrame>
    </p:spTree>
    <p:extLst>
      <p:ext uri="{BB962C8B-B14F-4D97-AF65-F5344CB8AC3E}">
        <p14:creationId xmlns:p14="http://schemas.microsoft.com/office/powerpoint/2010/main" val="295528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1687</TotalTime>
  <Words>732</Words>
  <Application>Microsoft Office PowerPoint</Application>
  <PresentationFormat>Widescreen</PresentationFormat>
  <Paragraphs>54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MS Project Weekly Report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Ahuti Shrestha</dc:creator>
  <cp:lastModifiedBy>Ahuti Shrestha</cp:lastModifiedBy>
  <cp:revision>26</cp:revision>
  <dcterms:created xsi:type="dcterms:W3CDTF">2021-06-20T02:45:14Z</dcterms:created>
  <dcterms:modified xsi:type="dcterms:W3CDTF">2021-07-13T19:38:42Z</dcterms:modified>
</cp:coreProperties>
</file>